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" charset="1" panose="00000800000000000000"/>
      <p:regular r:id="rId10"/>
    </p:embeddedFont>
    <p:embeddedFont>
      <p:font typeface="Montserrat" charset="1" panose="00000500000000000000"/>
      <p:regular r:id="rId11"/>
    </p:embeddedFont>
    <p:embeddedFont>
      <p:font typeface="Canva Sans" charset="1" panose="020B0503030501040103"/>
      <p:regular r:id="rId12"/>
    </p:embeddedFont>
    <p:embeddedFont>
      <p:font typeface="Glacial Indifference" charset="1" panose="00000000000000000000"/>
      <p:regular r:id="rId13"/>
    </p:embeddedFont>
    <p:embeddedFont>
      <p:font typeface="Glacial Indifference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27624" y="3609100"/>
            <a:ext cx="12177370" cy="130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6"/>
              </a:lnSpc>
            </a:pPr>
            <a:r>
              <a:rPr lang="en-US" b="true" sz="1138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YZone App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7067" y="3516903"/>
            <a:ext cx="3070135" cy="307013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5406389" y="5162550"/>
            <a:ext cx="6492240" cy="0"/>
          </a:xfrm>
          <a:prstGeom prst="line">
            <a:avLst/>
          </a:prstGeom>
          <a:ln cap="flat" w="38100">
            <a:solidFill>
              <a:srgbClr val="24096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3055315" y="5582386"/>
            <a:ext cx="12177370" cy="170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538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Program Execution, Governance &amp; Assessment Platform (NiFo Module)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16948" y="8006251"/>
            <a:ext cx="2312432" cy="209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-Chandru 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-Geetharani 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-Gokila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-Gowrisankar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-Madhankumar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498" y="1028700"/>
            <a:ext cx="14152523" cy="8402659"/>
            <a:chOff x="0" y="0"/>
            <a:chExt cx="3727414" cy="2213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2213046"/>
            </a:xfrm>
            <a:custGeom>
              <a:avLst/>
              <a:gdLst/>
              <a:ahLst/>
              <a:cxnLst/>
              <a:rect r="r" b="b" t="t" l="l"/>
              <a:pathLst>
                <a:path h="2213046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2213046"/>
                  </a:lnTo>
                  <a:lnTo>
                    <a:pt x="0" y="2213046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2251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2" y="1687647"/>
            <a:ext cx="5886282" cy="61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54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133" y="2355797"/>
            <a:ext cx="10635183" cy="263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793">
                <a:solidFill>
                  <a:srgbClr val="24096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purpose of the Yzone App is to bridge the gap between engineering education and industry readiness by enabling students to learn through real-world problem solving, disciplined execution, and continuous reflection within a structured internship environment.</a:t>
            </a:r>
          </a:p>
          <a:p>
            <a:pPr algn="l">
              <a:lnSpc>
                <a:spcPts val="254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4133" y="5695856"/>
            <a:ext cx="10635183" cy="339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793">
                <a:solidFill>
                  <a:srgbClr val="24096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objective of the Yzone App is to build a scalable, multi-tenant internship governance platform that enforces attendance and deadlines, captures daily and weekly reflections, enables controlled faculty/mentor review windows, performs rubric-based assessments, and generates auditable dashboards and reports across multiple colleges and cohorts.</a:t>
            </a:r>
          </a:p>
          <a:p>
            <a:pPr algn="l">
              <a:lnSpc>
                <a:spcPts val="2545"/>
              </a:lnSpc>
            </a:pP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919508" y="1973604"/>
            <a:ext cx="6339792" cy="6339792"/>
            <a:chOff x="0" y="0"/>
            <a:chExt cx="14840029" cy="148400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100000"/>
                  </a:srgbClr>
                </a:gs>
                <a:gs pos="100000">
                  <a:srgbClr val="8875D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-10062" t="0" r="-10062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603325" y="6555177"/>
            <a:ext cx="3038039" cy="3038039"/>
            <a:chOff x="0" y="0"/>
            <a:chExt cx="14840029" cy="148400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100000"/>
                  </a:srgbClr>
                </a:gs>
                <a:gs pos="100000">
                  <a:srgbClr val="F7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9732" t="0" r="-9732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76571" y="4934044"/>
            <a:ext cx="5886282" cy="61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54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2917" y="1710815"/>
            <a:ext cx="19526368" cy="2240807"/>
            <a:chOff x="0" y="0"/>
            <a:chExt cx="5142747" cy="590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50546" y="525460"/>
            <a:ext cx="7794638" cy="44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b="true" sz="396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REQUIREMENT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35218" y="9166597"/>
            <a:ext cx="19526368" cy="2240807"/>
            <a:chOff x="0" y="0"/>
            <a:chExt cx="5142747" cy="590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0545" y="5781004"/>
            <a:ext cx="4981763" cy="4207051"/>
            <a:chOff x="0" y="0"/>
            <a:chExt cx="1312069" cy="1108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069" cy="1108030"/>
            </a:xfrm>
            <a:custGeom>
              <a:avLst/>
              <a:gdLst/>
              <a:ahLst/>
              <a:cxnLst/>
              <a:rect r="r" b="b" t="t" l="l"/>
              <a:pathLst>
                <a:path h="1108030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108030"/>
                  </a:lnTo>
                  <a:lnTo>
                    <a:pt x="0" y="1108030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2069" cy="1146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18092" y="5718422"/>
            <a:ext cx="4981763" cy="4269633"/>
            <a:chOff x="0" y="0"/>
            <a:chExt cx="1312069" cy="11245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069" cy="1124512"/>
            </a:xfrm>
            <a:custGeom>
              <a:avLst/>
              <a:gdLst/>
              <a:ahLst/>
              <a:cxnLst/>
              <a:rect r="r" b="b" t="t" l="l"/>
              <a:pathLst>
                <a:path h="1124512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124512"/>
                  </a:lnTo>
                  <a:lnTo>
                    <a:pt x="0" y="1124512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2069" cy="1162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97661" y="5799277"/>
            <a:ext cx="5336354" cy="4170507"/>
            <a:chOff x="0" y="0"/>
            <a:chExt cx="1405459" cy="1098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5459" cy="1098405"/>
            </a:xfrm>
            <a:custGeom>
              <a:avLst/>
              <a:gdLst/>
              <a:ahLst/>
              <a:cxnLst/>
              <a:rect r="r" b="b" t="t" l="l"/>
              <a:pathLst>
                <a:path h="1098405" w="1405459">
                  <a:moveTo>
                    <a:pt x="0" y="0"/>
                  </a:moveTo>
                  <a:lnTo>
                    <a:pt x="1405459" y="0"/>
                  </a:lnTo>
                  <a:lnTo>
                    <a:pt x="1405459" y="1098405"/>
                  </a:lnTo>
                  <a:lnTo>
                    <a:pt x="0" y="1098405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05459" cy="1136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427" y="2426194"/>
            <a:ext cx="4391983" cy="193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363" indent="-344181" lvl="1">
              <a:lnSpc>
                <a:spcPts val="2550"/>
              </a:lnSpc>
              <a:buFont typeface="Arial"/>
              <a:buChar char="•"/>
            </a:pPr>
            <a:r>
              <a:rPr lang="en-US" b="true" sz="31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Multi-Tenant &amp; Cohort Governance</a:t>
            </a:r>
          </a:p>
          <a:p>
            <a:pPr algn="l">
              <a:lnSpc>
                <a:spcPts val="2710"/>
              </a:lnSpc>
            </a:pPr>
          </a:p>
          <a:p>
            <a:pPr algn="l" marL="688363" indent="-344181" lvl="1">
              <a:lnSpc>
                <a:spcPts val="2550"/>
              </a:lnSpc>
              <a:buFont typeface="Arial"/>
              <a:buChar char="•"/>
            </a:pPr>
            <a:r>
              <a:rPr lang="en-US" b="true" sz="31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Role-Based Access Control (RBAC)</a:t>
            </a:r>
          </a:p>
          <a:p>
            <a:pPr algn="l">
              <a:lnSpc>
                <a:spcPts val="2150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-4353611" y="1775433"/>
            <a:ext cx="5086650" cy="4023843"/>
            <a:chOff x="0" y="0"/>
            <a:chExt cx="1339694" cy="1059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9694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39694">
                  <a:moveTo>
                    <a:pt x="0" y="0"/>
                  </a:moveTo>
                  <a:lnTo>
                    <a:pt x="1339694" y="0"/>
                  </a:lnTo>
                  <a:lnTo>
                    <a:pt x="1339694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39694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15736" y="1227289"/>
            <a:ext cx="4981763" cy="4023843"/>
            <a:chOff x="0" y="0"/>
            <a:chExt cx="1312069" cy="1059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76052" y="1227289"/>
            <a:ext cx="4981763" cy="4023843"/>
            <a:chOff x="0" y="0"/>
            <a:chExt cx="1312069" cy="10597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512982" y="2360667"/>
            <a:ext cx="4391983" cy="187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773" indent="-333387" lvl="1">
              <a:lnSpc>
                <a:spcPts val="2470"/>
              </a:lnSpc>
              <a:buFont typeface="Arial"/>
              <a:buChar char="•"/>
            </a:pPr>
            <a:r>
              <a:rPr lang="en-US" b="true" sz="3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MoU &amp; Governance Management</a:t>
            </a:r>
          </a:p>
          <a:p>
            <a:pPr algn="l">
              <a:lnSpc>
                <a:spcPts val="2470"/>
              </a:lnSpc>
            </a:pPr>
          </a:p>
          <a:p>
            <a:pPr algn="l" marL="666773" indent="-333387" lvl="1">
              <a:lnSpc>
                <a:spcPts val="2470"/>
              </a:lnSpc>
              <a:buFont typeface="Arial"/>
              <a:buChar char="•"/>
            </a:pPr>
            <a:r>
              <a:rPr lang="en-US" b="true" sz="3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Application &amp; Selection Workflow</a:t>
            </a:r>
          </a:p>
          <a:p>
            <a:pPr algn="l">
              <a:lnSpc>
                <a:spcPts val="247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792551" y="2351142"/>
            <a:ext cx="4391983" cy="203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594" indent="-311797" lvl="1">
              <a:lnSpc>
                <a:spcPts val="2310"/>
              </a:lnSpc>
              <a:buFont typeface="Arial"/>
              <a:buChar char="•"/>
            </a:pPr>
            <a:r>
              <a:rPr lang="en-US" b="true" sz="28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Wild-Card Admission (Facilitator/Exec Only)</a:t>
            </a:r>
          </a:p>
          <a:p>
            <a:pPr algn="l">
              <a:lnSpc>
                <a:spcPts val="2470"/>
              </a:lnSpc>
            </a:pPr>
          </a:p>
          <a:p>
            <a:pPr algn="l" marL="623594" indent="-311797" lvl="1">
              <a:lnSpc>
                <a:spcPts val="2310"/>
              </a:lnSpc>
              <a:buFont typeface="Arial"/>
              <a:buChar char="•"/>
            </a:pPr>
            <a:r>
              <a:rPr lang="en-US" b="true" sz="28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Curriculum &amp; Session Management</a:t>
            </a:r>
          </a:p>
          <a:p>
            <a:pPr algn="l">
              <a:lnSpc>
                <a:spcPts val="215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8427" y="6705949"/>
            <a:ext cx="4391983" cy="219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773" indent="-333387" lvl="1">
              <a:lnSpc>
                <a:spcPts val="2470"/>
              </a:lnSpc>
              <a:buFont typeface="Arial"/>
              <a:buChar char="•"/>
            </a:pPr>
            <a:r>
              <a:rPr lang="en-US" b="true" sz="3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Attendance Tracking (Facilitator Only)</a:t>
            </a:r>
          </a:p>
          <a:p>
            <a:pPr algn="l">
              <a:lnSpc>
                <a:spcPts val="2550"/>
              </a:lnSpc>
            </a:pPr>
          </a:p>
          <a:p>
            <a:pPr algn="l" marL="666773" indent="-333387" lvl="1">
              <a:lnSpc>
                <a:spcPts val="2470"/>
              </a:lnSpc>
              <a:buFont typeface="Arial"/>
              <a:buChar char="•"/>
            </a:pPr>
            <a:r>
              <a:rPr lang="en-US" b="true" sz="3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Daily Progress Tracker + Weekly Reflection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58240" y="6727507"/>
            <a:ext cx="4391983" cy="204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952" indent="-354976" lvl="1">
              <a:lnSpc>
                <a:spcPts val="2630"/>
              </a:lnSpc>
              <a:buFont typeface="Arial"/>
              <a:buChar char="•"/>
            </a:pPr>
            <a:r>
              <a:rPr lang="en-US" b="true" sz="3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Controlled Review Windows</a:t>
            </a:r>
          </a:p>
          <a:p>
            <a:pPr algn="l">
              <a:lnSpc>
                <a:spcPts val="2630"/>
              </a:lnSpc>
            </a:pPr>
          </a:p>
          <a:p>
            <a:pPr algn="l" marL="709952" indent="-354976" lvl="1">
              <a:lnSpc>
                <a:spcPts val="2630"/>
              </a:lnSpc>
              <a:buFont typeface="Arial"/>
              <a:buChar char="•"/>
            </a:pPr>
            <a:r>
              <a:rPr lang="en-US" sz="3288">
                <a:solidFill>
                  <a:srgbClr val="24096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3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Badges &amp; Leaderboard</a:t>
            </a:r>
          </a:p>
          <a:p>
            <a:pPr algn="l">
              <a:lnSpc>
                <a:spcPts val="263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1999955" y="6715474"/>
            <a:ext cx="4757860" cy="198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5333" indent="-347667" lvl="1">
              <a:lnSpc>
                <a:spcPts val="2576"/>
              </a:lnSpc>
              <a:buFont typeface="Arial"/>
              <a:buChar char="•"/>
            </a:pPr>
            <a:r>
              <a:rPr lang="en-US" b="true" sz="3220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WhatsApp Notifications</a:t>
            </a:r>
          </a:p>
          <a:p>
            <a:pPr algn="l">
              <a:lnSpc>
                <a:spcPts val="2576"/>
              </a:lnSpc>
            </a:pPr>
          </a:p>
          <a:p>
            <a:pPr algn="l" marL="695333" indent="-347667" lvl="1">
              <a:lnSpc>
                <a:spcPts val="2576"/>
              </a:lnSpc>
              <a:buFont typeface="Arial"/>
              <a:buChar char="•"/>
            </a:pPr>
            <a:r>
              <a:rPr lang="en-US" b="true" sz="3220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Certificates &amp; Reports</a:t>
            </a:r>
          </a:p>
          <a:p>
            <a:pPr algn="l">
              <a:lnSpc>
                <a:spcPts val="2576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650545" y="1227289"/>
            <a:ext cx="4981763" cy="4023843"/>
            <a:chOff x="0" y="0"/>
            <a:chExt cx="1312069" cy="10597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2917" y="1710815"/>
            <a:ext cx="19526368" cy="2240807"/>
            <a:chOff x="0" y="0"/>
            <a:chExt cx="5142747" cy="590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03862" y="511437"/>
            <a:ext cx="9080275" cy="44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b="true" sz="396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NON-FUNCTIONAL REQUIREMENT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35218" y="9166597"/>
            <a:ext cx="19526368" cy="2240807"/>
            <a:chOff x="0" y="0"/>
            <a:chExt cx="5142747" cy="590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24419" y="5712900"/>
            <a:ext cx="4981763" cy="4207051"/>
            <a:chOff x="0" y="0"/>
            <a:chExt cx="1312069" cy="1108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069" cy="1108030"/>
            </a:xfrm>
            <a:custGeom>
              <a:avLst/>
              <a:gdLst/>
              <a:ahLst/>
              <a:cxnLst/>
              <a:rect r="r" b="b" t="t" l="l"/>
              <a:pathLst>
                <a:path h="1108030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108030"/>
                  </a:lnTo>
                  <a:lnTo>
                    <a:pt x="0" y="1108030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2069" cy="1146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18514" y="5617650"/>
            <a:ext cx="5336354" cy="4170507"/>
            <a:chOff x="0" y="0"/>
            <a:chExt cx="1405459" cy="10984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5459" cy="1098405"/>
            </a:xfrm>
            <a:custGeom>
              <a:avLst/>
              <a:gdLst/>
              <a:ahLst/>
              <a:cxnLst/>
              <a:rect r="r" b="b" t="t" l="l"/>
              <a:pathLst>
                <a:path h="1098405" w="1405459">
                  <a:moveTo>
                    <a:pt x="0" y="0"/>
                  </a:moveTo>
                  <a:lnTo>
                    <a:pt x="1405459" y="0"/>
                  </a:lnTo>
                  <a:lnTo>
                    <a:pt x="1405459" y="1098405"/>
                  </a:lnTo>
                  <a:lnTo>
                    <a:pt x="0" y="1098405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05459" cy="1136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427" y="2464294"/>
            <a:ext cx="4391983" cy="218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5847" indent="-462923" lvl="1">
              <a:lnSpc>
                <a:spcPts val="3430"/>
              </a:lnSpc>
              <a:buFont typeface="Arial"/>
              <a:buChar char="•"/>
            </a:pPr>
            <a:r>
              <a:rPr lang="en-US" b="true" sz="4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Performance</a:t>
            </a:r>
          </a:p>
          <a:p>
            <a:pPr algn="l">
              <a:lnSpc>
                <a:spcPts val="3430"/>
              </a:lnSpc>
            </a:pPr>
          </a:p>
          <a:p>
            <a:pPr algn="l" marL="925847" indent="-462923" lvl="1">
              <a:lnSpc>
                <a:spcPts val="3430"/>
              </a:lnSpc>
              <a:buFont typeface="Arial"/>
              <a:buChar char="•"/>
            </a:pPr>
            <a:r>
              <a:rPr lang="en-US" b="true" sz="4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Reliability &amp; Availability</a:t>
            </a:r>
          </a:p>
          <a:p>
            <a:pPr algn="l">
              <a:lnSpc>
                <a:spcPts val="327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-4353611" y="1775433"/>
            <a:ext cx="5086650" cy="4023843"/>
            <a:chOff x="0" y="0"/>
            <a:chExt cx="1339694" cy="10597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9694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39694">
                  <a:moveTo>
                    <a:pt x="0" y="0"/>
                  </a:moveTo>
                  <a:lnTo>
                    <a:pt x="1339694" y="0"/>
                  </a:lnTo>
                  <a:lnTo>
                    <a:pt x="1339694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9694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18092" y="1327107"/>
            <a:ext cx="4981763" cy="4023843"/>
            <a:chOff x="0" y="0"/>
            <a:chExt cx="1312069" cy="10597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76052" y="1227289"/>
            <a:ext cx="4981763" cy="4023843"/>
            <a:chOff x="0" y="0"/>
            <a:chExt cx="1312069" cy="1059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512982" y="2398767"/>
            <a:ext cx="4391983" cy="237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668" indent="-441334" lvl="1">
              <a:lnSpc>
                <a:spcPts val="3270"/>
              </a:lnSpc>
              <a:buFont typeface="Arial"/>
              <a:buChar char="•"/>
            </a:pPr>
            <a:r>
              <a:rPr lang="en-US" b="true" sz="4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Security</a:t>
            </a:r>
          </a:p>
          <a:p>
            <a:pPr algn="l">
              <a:lnSpc>
                <a:spcPts val="3270"/>
              </a:lnSpc>
            </a:pPr>
          </a:p>
          <a:p>
            <a:pPr algn="l" marL="882668" indent="-441334" lvl="1">
              <a:lnSpc>
                <a:spcPts val="3270"/>
              </a:lnSpc>
              <a:buFont typeface="Arial"/>
              <a:buChar char="•"/>
            </a:pPr>
            <a:r>
              <a:rPr lang="en-US" b="true" sz="40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Isolation (Multi-Tenancy)</a:t>
            </a:r>
          </a:p>
          <a:p>
            <a:pPr algn="l">
              <a:lnSpc>
                <a:spcPts val="239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792551" y="2389242"/>
            <a:ext cx="4391983" cy="224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078" indent="-430539" lvl="1">
              <a:lnSpc>
                <a:spcPts val="3190"/>
              </a:lnSpc>
              <a:buFont typeface="Arial"/>
              <a:buChar char="•"/>
            </a:pPr>
            <a:r>
              <a:rPr lang="en-US" b="true" sz="39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Compliance &amp; Data Retention</a:t>
            </a:r>
          </a:p>
          <a:p>
            <a:pPr algn="l">
              <a:lnSpc>
                <a:spcPts val="3190"/>
              </a:lnSpc>
            </a:pPr>
          </a:p>
          <a:p>
            <a:pPr algn="l" marL="861078" indent="-430539" lvl="1">
              <a:lnSpc>
                <a:spcPts val="3190"/>
              </a:lnSpc>
              <a:buFont typeface="Arial"/>
              <a:buChar char="•"/>
            </a:pPr>
            <a:r>
              <a:rPr lang="en-US" b="true" sz="39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Scalability</a:t>
            </a:r>
          </a:p>
          <a:p>
            <a:pPr algn="l">
              <a:lnSpc>
                <a:spcPts val="2470"/>
              </a:lnSpc>
            </a:pPr>
          </a:p>
          <a:p>
            <a:pPr algn="l">
              <a:lnSpc>
                <a:spcPts val="247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519309" y="6642634"/>
            <a:ext cx="4391983" cy="25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5847" indent="-462923" lvl="1">
              <a:lnSpc>
                <a:spcPts val="3430"/>
              </a:lnSpc>
              <a:buFont typeface="Arial"/>
              <a:buChar char="•"/>
            </a:pPr>
            <a:r>
              <a:rPr lang="en-US" b="true" sz="4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Auditability &amp; Traceability</a:t>
            </a:r>
          </a:p>
          <a:p>
            <a:pPr algn="l">
              <a:lnSpc>
                <a:spcPts val="3430"/>
              </a:lnSpc>
            </a:pPr>
          </a:p>
          <a:p>
            <a:pPr algn="l" marL="925847" indent="-462923" lvl="1">
              <a:lnSpc>
                <a:spcPts val="3430"/>
              </a:lnSpc>
              <a:buFont typeface="Arial"/>
              <a:buChar char="•"/>
            </a:pPr>
            <a:r>
              <a:rPr lang="en-US" b="true" sz="4288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Usability &amp; Accessibility</a:t>
            </a:r>
          </a:p>
          <a:p>
            <a:pPr algn="l">
              <a:lnSpc>
                <a:spcPts val="271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316893" y="7163925"/>
            <a:ext cx="5139597" cy="262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1228" indent="-455614" lvl="1">
              <a:lnSpc>
                <a:spcPts val="3376"/>
              </a:lnSpc>
              <a:buFont typeface="Arial"/>
              <a:buChar char="•"/>
            </a:pPr>
            <a:r>
              <a:rPr lang="en-US" b="true" sz="4220">
                <a:solidFill>
                  <a:srgbClr val="24096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Branding Standardization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6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664829" y="1324823"/>
            <a:ext cx="4981763" cy="4023843"/>
            <a:chOff x="0" y="0"/>
            <a:chExt cx="1312069" cy="10597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2069" cy="1059778"/>
            </a:xfrm>
            <a:custGeom>
              <a:avLst/>
              <a:gdLst/>
              <a:ahLst/>
              <a:cxnLst/>
              <a:rect r="r" b="b" t="t" l="l"/>
              <a:pathLst>
                <a:path h="1059778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9778"/>
                  </a:lnTo>
                  <a:lnTo>
                    <a:pt x="0" y="1059778"/>
                  </a:lnTo>
                  <a:close/>
                </a:path>
              </a:pathLst>
            </a:custGeom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12069" cy="109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DAG_8iL_zYA</dc:identifier>
  <dcterms:modified xsi:type="dcterms:W3CDTF">2011-08-01T06:04:30Z</dcterms:modified>
  <cp:revision>1</cp:revision>
  <dc:title>yZone App - Module)</dc:title>
</cp:coreProperties>
</file>